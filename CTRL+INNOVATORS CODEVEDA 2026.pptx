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43BEDD-B938-403A-BDF5-3BD5F51DB8BC}" v="8" dt="2026-03-18T10:54:06.34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3" name="Shape 1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5" name="Shape 1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roup 2"/>
          <p:cNvSpPr/>
          <p:nvPr/>
        </p:nvSpPr>
        <p:spPr>
          <a:xfrm>
            <a:off x="2410557" y="1151360"/>
            <a:ext cx="12149225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5000"/>
              </a:lnSpc>
              <a:defRPr sz="4200" b="1">
                <a:solidFill>
                  <a:srgbClr val="0453C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CODEVEDA - HACKATHON 2026</a:t>
            </a:r>
          </a:p>
        </p:txBody>
      </p:sp>
      <p:sp>
        <p:nvSpPr>
          <p:cNvPr id="95" name="Freeform 6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98" name="Group 7"/>
          <p:cNvGrpSpPr/>
          <p:nvPr/>
        </p:nvGrpSpPr>
        <p:grpSpPr>
          <a:xfrm>
            <a:off x="0" y="9532142"/>
            <a:ext cx="18288001" cy="754858"/>
            <a:chOff x="0" y="0"/>
            <a:chExt cx="18288000" cy="754857"/>
          </a:xfrm>
        </p:grpSpPr>
        <p:sp>
          <p:nvSpPr>
            <p:cNvPr id="96" name="Freeform 8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7" name="TextBox 9"/>
            <p:cNvSpPr/>
            <p:nvPr/>
          </p:nvSpPr>
          <p:spPr>
            <a:xfrm>
              <a:off x="0" y="377428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 1</a:t>
              </a:r>
            </a:p>
          </p:txBody>
        </p:sp>
      </p:grpSp>
      <p:sp>
        <p:nvSpPr>
          <p:cNvPr id="99" name="Freeform 10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Freeform 11"/>
          <p:cNvSpPr/>
          <p:nvPr/>
        </p:nvSpPr>
        <p:spPr>
          <a:xfrm>
            <a:off x="8206671" y="1619263"/>
            <a:ext cx="7048473" cy="7048473"/>
          </a:xfrm>
          <a:prstGeom prst="rect">
            <a:avLst/>
          </a:prstGeom>
          <a:blipFill>
            <a:blip r:embed="rId4">
              <a:alphaModFix amt="6283"/>
            </a:blip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TextBox 12"/>
          <p:cNvSpPr txBox="1"/>
          <p:nvPr/>
        </p:nvSpPr>
        <p:spPr>
          <a:xfrm>
            <a:off x="410308" y="2347864"/>
            <a:ext cx="16149723" cy="6388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651509" lvl="1" indent="-325754" algn="just">
              <a:lnSpc>
                <a:spcPts val="8600"/>
              </a:lnSpc>
              <a:buSzPct val="100000"/>
              <a:buFont typeface="Arial"/>
              <a:buChar char="•"/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rPr sz="2800" dirty="0"/>
              <a:t>Problem Statement Title</a:t>
            </a:r>
            <a:r>
              <a:rPr lang="en-US" sz="2800" dirty="0"/>
              <a:t>:</a:t>
            </a:r>
            <a:r>
              <a:rPr lang="en-US" sz="2400" dirty="0"/>
              <a:t>  </a:t>
            </a:r>
            <a:r>
              <a:rPr lang="en-US" sz="2400" dirty="0">
                <a:sym typeface="Arial"/>
              </a:rPr>
              <a:t>Real-Time Workforce &amp; Field-Risk Intelligence for High-Risk Industries</a:t>
            </a:r>
            <a:r>
              <a:rPr sz="2400" dirty="0"/>
              <a:t> </a:t>
            </a:r>
          </a:p>
          <a:p>
            <a:pPr marL="651509" lvl="1" indent="-325754" algn="just">
              <a:lnSpc>
                <a:spcPts val="8600"/>
              </a:lnSpc>
              <a:buSzPct val="100000"/>
              <a:buFont typeface="Arial"/>
              <a:buChar char="•"/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rPr sz="2800" dirty="0"/>
              <a:t>Theme:</a:t>
            </a:r>
            <a:r>
              <a:rPr lang="en-US" sz="2800" dirty="0"/>
              <a:t>  </a:t>
            </a:r>
            <a:r>
              <a:rPr lang="en-US" sz="2400" dirty="0">
                <a:sym typeface="Arial"/>
              </a:rPr>
              <a:t>AI &amp; IoT for Smart Industrial Safety</a:t>
            </a:r>
            <a:endParaRPr sz="2400" dirty="0"/>
          </a:p>
          <a:p>
            <a:pPr marL="651509" lvl="1" indent="-325754" algn="just">
              <a:lnSpc>
                <a:spcPts val="8600"/>
              </a:lnSpc>
              <a:buSzPct val="100000"/>
              <a:buFont typeface="Arial"/>
              <a:buChar char="•"/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rPr sz="2800" dirty="0"/>
              <a:t>Team Name:</a:t>
            </a:r>
            <a:r>
              <a:rPr lang="en-US" sz="2800" dirty="0"/>
              <a:t>  </a:t>
            </a:r>
            <a:r>
              <a:rPr lang="en-US" sz="2400" dirty="0"/>
              <a:t>CTRL+ Innovators </a:t>
            </a:r>
            <a:endParaRPr sz="2400" dirty="0"/>
          </a:p>
          <a:p>
            <a:pPr marL="651509" lvl="1" indent="-325754" algn="just">
              <a:lnSpc>
                <a:spcPts val="8600"/>
              </a:lnSpc>
              <a:buSzPct val="100000"/>
              <a:buFont typeface="Arial"/>
              <a:buChar char="•"/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rPr sz="2800" dirty="0"/>
              <a:t>Team Leader’s Name</a:t>
            </a:r>
            <a:r>
              <a:rPr sz="2400" dirty="0"/>
              <a:t>:</a:t>
            </a:r>
            <a:r>
              <a:rPr lang="en-US" sz="2400" dirty="0"/>
              <a:t>  Saniya Ilma</a:t>
            </a:r>
            <a:endParaRPr sz="2400" dirty="0"/>
          </a:p>
          <a:p>
            <a:pPr marL="651509" lvl="1" indent="-325754" algn="just">
              <a:lnSpc>
                <a:spcPts val="8600"/>
              </a:lnSpc>
              <a:buSzPct val="100000"/>
              <a:buFont typeface="Arial"/>
              <a:buChar char="•"/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rPr sz="2800" dirty="0"/>
              <a:t>Team Members Name :</a:t>
            </a:r>
            <a:r>
              <a:rPr lang="en-US" sz="2800" dirty="0"/>
              <a:t>   </a:t>
            </a:r>
            <a:r>
              <a:rPr lang="en-US" sz="2400" dirty="0"/>
              <a:t>Charan G, Preetham Shetty, Dhanya M, Muskan Kumari</a:t>
            </a:r>
          </a:p>
          <a:p>
            <a:pPr marL="325755" lvl="1" indent="0" algn="just">
              <a:lnSpc>
                <a:spcPts val="8600"/>
              </a:lnSpc>
              <a:buSzPct val="100000"/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1600" dirty="0"/>
              <a:t>.</a:t>
            </a:r>
            <a:endParaRPr sz="16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roup 2"/>
          <p:cNvSpPr/>
          <p:nvPr/>
        </p:nvSpPr>
        <p:spPr>
          <a:xfrm>
            <a:off x="-266700" y="386958"/>
            <a:ext cx="1645920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00"/>
              </a:lnSpc>
            </a:pPr>
            <a:endParaRPr/>
          </a:p>
          <a:p>
            <a:pPr algn="ctr">
              <a:lnSpc>
                <a:spcPts val="5000"/>
              </a:lnSpc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IDEA TITLE</a:t>
            </a:r>
          </a:p>
        </p:txBody>
      </p:sp>
      <p:sp>
        <p:nvSpPr>
          <p:cNvPr id="104" name="TextBox 5"/>
          <p:cNvSpPr txBox="1"/>
          <p:nvPr/>
        </p:nvSpPr>
        <p:spPr>
          <a:xfrm>
            <a:off x="203200" y="1193041"/>
            <a:ext cx="17721943" cy="7722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SafeSense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AI – Intelligent Worker Safety Monitoring System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Proposed Solution: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AI-powered IoT safety monitoring system that continuously monitors workers and workplace conditions to detect hazardous situations and prevent accidents in real time.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Detailed Explanation: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Sensors monitor gas concentration, temperature, and worker health parameters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Data is collected using ESP32 microcontroller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Data is transmitted to Azure cloud platform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AI model analyzes data to classify risk level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Safety dashboard displays SAFE / WARNING / DANGER status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How It Addresses the Problem: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Provides real-time monitoring of hazardous environments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Enables early detection of dangerous conditions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Allows supervisors to take preventive action before accidents occur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Innovation &amp; Uniqueness: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Combines IoT sensors + AI predictive analytics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Uses cloud-based real-time monitoring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Focuses on predictive safety instead of reactive safety</a:t>
            </a:r>
          </a:p>
          <a:p>
            <a:pPr>
              <a:lnSpc>
                <a:spcPts val="4300"/>
              </a:lnSpc>
              <a:defRPr sz="3600" b="1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7" name="Group 6"/>
          <p:cNvGrpSpPr/>
          <p:nvPr/>
        </p:nvGrpSpPr>
        <p:grpSpPr>
          <a:xfrm>
            <a:off x="13106400" y="9534524"/>
            <a:ext cx="4267200" cy="547689"/>
            <a:chOff x="0" y="0"/>
            <a:chExt cx="4267200" cy="547687"/>
          </a:xfrm>
        </p:grpSpPr>
        <p:sp>
          <p:nvSpPr>
            <p:cNvPr id="105" name="Freeform 7"/>
            <p:cNvSpPr/>
            <p:nvPr/>
          </p:nvSpPr>
          <p:spPr>
            <a:xfrm>
              <a:off x="0" y="-1"/>
              <a:ext cx="4267200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TextBox 8"/>
            <p:cNvSpPr txBox="1"/>
            <p:nvPr/>
          </p:nvSpPr>
          <p:spPr>
            <a:xfrm>
              <a:off x="0" y="133733"/>
              <a:ext cx="4267200" cy="265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lnSpc>
                  <a:spcPts val="2100"/>
                </a:lnSpc>
                <a:defRPr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110" name="Group 9"/>
          <p:cNvGrpSpPr/>
          <p:nvPr/>
        </p:nvGrpSpPr>
        <p:grpSpPr>
          <a:xfrm>
            <a:off x="6972299" y="9534524"/>
            <a:ext cx="4806002" cy="547689"/>
            <a:chOff x="0" y="0"/>
            <a:chExt cx="4806000" cy="547687"/>
          </a:xfrm>
        </p:grpSpPr>
        <p:sp>
          <p:nvSpPr>
            <p:cNvPr id="108" name="Freeform 10"/>
            <p:cNvSpPr/>
            <p:nvPr/>
          </p:nvSpPr>
          <p:spPr>
            <a:xfrm>
              <a:off x="-1" y="-1"/>
              <a:ext cx="4806002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TextBox 11"/>
            <p:cNvSpPr txBox="1"/>
            <p:nvPr/>
          </p:nvSpPr>
          <p:spPr>
            <a:xfrm>
              <a:off x="0" y="133733"/>
              <a:ext cx="4806001" cy="265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100"/>
                </a:lnSpc>
                <a:defRPr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defRPr>
              </a:lvl1pPr>
            </a:lstStyle>
            <a:p>
              <a:r>
                <a:t>ASAC</a:t>
              </a:r>
            </a:p>
          </p:txBody>
        </p:sp>
      </p:grpSp>
      <p:sp>
        <p:nvSpPr>
          <p:cNvPr id="111" name="Freeform 12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2" name="Freeform 14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15" name="Group 15"/>
          <p:cNvGrpSpPr/>
          <p:nvPr/>
        </p:nvGrpSpPr>
        <p:grpSpPr>
          <a:xfrm>
            <a:off x="0" y="9532143"/>
            <a:ext cx="18288001" cy="754858"/>
            <a:chOff x="0" y="0"/>
            <a:chExt cx="18288000" cy="754857"/>
          </a:xfrm>
        </p:grpSpPr>
        <p:sp>
          <p:nvSpPr>
            <p:cNvPr id="113" name="Freeform 16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TextBox 9"/>
            <p:cNvSpPr/>
            <p:nvPr/>
          </p:nvSpPr>
          <p:spPr>
            <a:xfrm>
              <a:off x="0" y="377427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2</a:t>
              </a:r>
            </a:p>
          </p:txBody>
        </p:sp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roup 2"/>
          <p:cNvSpPr/>
          <p:nvPr/>
        </p:nvSpPr>
        <p:spPr>
          <a:xfrm>
            <a:off x="114300" y="702468"/>
            <a:ext cx="1645920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5000"/>
              </a:lnSpc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TECHNOLOGY &amp; METHODOLOGY</a:t>
            </a:r>
          </a:p>
        </p:txBody>
      </p:sp>
      <p:sp>
        <p:nvSpPr>
          <p:cNvPr id="120" name="TextBox 5"/>
          <p:cNvSpPr txBox="1"/>
          <p:nvPr/>
        </p:nvSpPr>
        <p:spPr>
          <a:xfrm>
            <a:off x="698744" y="1384761"/>
            <a:ext cx="7835656" cy="7734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Hardware: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ESP32 Microcontroller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Gas Sensor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Temperature Sensor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Heart Rate Sensor (optional wearable)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Software: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Python (Flask backend)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HTML / JavaScript Dashboard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Cloud Platform: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Microsoft Azure IoT Hub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Azure Stream Analytics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Azure Machine Learning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Methodology / Implementation Process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Sensors collect environmental and worker health data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ESP32 processes sensor readings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is transmitted to Azure IoT Hub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Azure services analyze data in real time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model predicts risk levels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Dashboard shows live safety status and alerts</a:t>
            </a:r>
          </a:p>
          <a:p>
            <a:pPr marL="651509" lvl="1" indent="-325754" algn="just">
              <a:lnSpc>
                <a:spcPts val="5400"/>
              </a:lnSpc>
              <a:buSzPct val="100000"/>
              <a:buFont typeface="Arial"/>
              <a:buChar char="•"/>
              <a:defRPr sz="36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3" name="Group 6"/>
          <p:cNvGrpSpPr/>
          <p:nvPr/>
        </p:nvGrpSpPr>
        <p:grpSpPr>
          <a:xfrm>
            <a:off x="13106400" y="9534524"/>
            <a:ext cx="4267200" cy="547689"/>
            <a:chOff x="0" y="0"/>
            <a:chExt cx="4267200" cy="547687"/>
          </a:xfrm>
        </p:grpSpPr>
        <p:sp>
          <p:nvSpPr>
            <p:cNvPr id="121" name="Freeform 7"/>
            <p:cNvSpPr/>
            <p:nvPr/>
          </p:nvSpPr>
          <p:spPr>
            <a:xfrm>
              <a:off x="0" y="-1"/>
              <a:ext cx="4267200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TextBox 8"/>
            <p:cNvSpPr txBox="1"/>
            <p:nvPr/>
          </p:nvSpPr>
          <p:spPr>
            <a:xfrm>
              <a:off x="0" y="50422"/>
              <a:ext cx="426720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lnSpc>
                  <a:spcPts val="3200"/>
                </a:lnSpc>
                <a:defRPr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126" name="Group 9"/>
          <p:cNvGrpSpPr/>
          <p:nvPr/>
        </p:nvGrpSpPr>
        <p:grpSpPr>
          <a:xfrm>
            <a:off x="6000750" y="9635728"/>
            <a:ext cx="6286500" cy="547689"/>
            <a:chOff x="0" y="0"/>
            <a:chExt cx="6286500" cy="547687"/>
          </a:xfrm>
        </p:grpSpPr>
        <p:sp>
          <p:nvSpPr>
            <p:cNvPr id="124" name="Freeform 10"/>
            <p:cNvSpPr/>
            <p:nvPr/>
          </p:nvSpPr>
          <p:spPr>
            <a:xfrm>
              <a:off x="0" y="-1"/>
              <a:ext cx="6286500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TextBox 11"/>
            <p:cNvSpPr txBox="1"/>
            <p:nvPr/>
          </p:nvSpPr>
          <p:spPr>
            <a:xfrm>
              <a:off x="0" y="50422"/>
              <a:ext cx="628650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Alliance School of Advanced Computing</a:t>
              </a:r>
            </a:p>
          </p:txBody>
        </p:sp>
      </p:grpSp>
      <p:sp>
        <p:nvSpPr>
          <p:cNvPr id="127" name="Freeform 12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" name="Freeform 14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31" name="Group 15"/>
          <p:cNvGrpSpPr/>
          <p:nvPr/>
        </p:nvGrpSpPr>
        <p:grpSpPr>
          <a:xfrm>
            <a:off x="0" y="9532143"/>
            <a:ext cx="18288001" cy="754858"/>
            <a:chOff x="0" y="0"/>
            <a:chExt cx="18288000" cy="754857"/>
          </a:xfrm>
        </p:grpSpPr>
        <p:sp>
          <p:nvSpPr>
            <p:cNvPr id="129" name="Freeform 16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TextBox 9"/>
            <p:cNvSpPr/>
            <p:nvPr/>
          </p:nvSpPr>
          <p:spPr>
            <a:xfrm>
              <a:off x="0" y="377427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3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8FA438C-3AA0-00E3-B8AA-50A09007A6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7021" y="1732643"/>
            <a:ext cx="9100457" cy="606697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roup 2"/>
          <p:cNvSpPr/>
          <p:nvPr/>
        </p:nvSpPr>
        <p:spPr>
          <a:xfrm>
            <a:off x="1198454" y="704860"/>
            <a:ext cx="143515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5000"/>
              </a:lnSpc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FEASIBILITY AND VIABILITY</a:t>
            </a:r>
          </a:p>
        </p:txBody>
      </p:sp>
      <p:sp>
        <p:nvSpPr>
          <p:cNvPr id="136" name="TextBox 5"/>
          <p:cNvSpPr txBox="1"/>
          <p:nvPr/>
        </p:nvSpPr>
        <p:spPr>
          <a:xfrm>
            <a:off x="759097" y="1409721"/>
            <a:ext cx="13895070" cy="7395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000" b="1" dirty="0"/>
              <a:t>Feasibility Analysis:</a:t>
            </a:r>
          </a:p>
          <a:p>
            <a:r>
              <a:rPr lang="en-US" dirty="0"/>
              <a:t>• Uses low-cost IoT hardware</a:t>
            </a:r>
            <a:br>
              <a:rPr lang="en-US" dirty="0"/>
            </a:br>
            <a:r>
              <a:rPr lang="en-US" dirty="0"/>
              <a:t>• Cloud infrastructure handled by Microsoft Azure</a:t>
            </a:r>
            <a:br>
              <a:rPr lang="en-US" dirty="0"/>
            </a:br>
            <a:r>
              <a:rPr lang="en-US" dirty="0"/>
              <a:t>• Easily scalable for large industrial environments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2000" b="1" dirty="0"/>
              <a:t>Potential Challenges:</a:t>
            </a:r>
          </a:p>
          <a:p>
            <a:r>
              <a:rPr lang="en-US" dirty="0"/>
              <a:t>• Sensor accuracy and calibration</a:t>
            </a:r>
            <a:br>
              <a:rPr lang="en-US" dirty="0"/>
            </a:br>
            <a:r>
              <a:rPr lang="en-US" dirty="0"/>
              <a:t>• Network connectivity issues in remote locations</a:t>
            </a:r>
            <a:br>
              <a:rPr lang="en-US" dirty="0"/>
            </a:br>
            <a:r>
              <a:rPr lang="en-US" dirty="0"/>
              <a:t>• Handling large-scale sensor data</a:t>
            </a:r>
          </a:p>
          <a:p>
            <a:br>
              <a:rPr lang="en-US" dirty="0"/>
            </a:br>
            <a:endParaRPr lang="en-US" sz="2000" dirty="0"/>
          </a:p>
          <a:p>
            <a:r>
              <a:rPr lang="en-US" sz="2000" b="1" dirty="0"/>
              <a:t>Strategies to Overcome Challenges:</a:t>
            </a:r>
          </a:p>
          <a:p>
            <a:r>
              <a:rPr lang="en-US" dirty="0"/>
              <a:t>• Regular sensor calibration</a:t>
            </a:r>
            <a:br>
              <a:rPr lang="en-US" dirty="0"/>
            </a:br>
            <a:r>
              <a:rPr lang="en-US" dirty="0"/>
              <a:t>• Use edge processing with ESP32</a:t>
            </a:r>
            <a:br>
              <a:rPr lang="en-US" dirty="0"/>
            </a:br>
            <a:r>
              <a:rPr lang="en-US" dirty="0"/>
              <a:t>• Implement scalable Azure cloud services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2000" b="1" dirty="0"/>
              <a:t>Scalability:</a:t>
            </a:r>
          </a:p>
          <a:p>
            <a:r>
              <a:rPr lang="en-US" dirty="0"/>
              <a:t>System can be deployed in:</a:t>
            </a:r>
          </a:p>
          <a:p>
            <a:r>
              <a:rPr lang="en-US" dirty="0"/>
              <a:t>                    • Construction sites</a:t>
            </a:r>
            <a:br>
              <a:rPr lang="en-US" dirty="0"/>
            </a:br>
            <a:r>
              <a:rPr lang="en-US" dirty="0"/>
              <a:t>                    • Mining industries</a:t>
            </a:r>
            <a:br>
              <a:rPr lang="en-US" dirty="0"/>
            </a:br>
            <a:r>
              <a:rPr lang="en-US" dirty="0"/>
              <a:t>                    • Manufacturing plants</a:t>
            </a:r>
            <a:br>
              <a:rPr lang="en-US" dirty="0"/>
            </a:br>
            <a:r>
              <a:rPr lang="en-US" dirty="0"/>
              <a:t>                    • Disaster response operations</a:t>
            </a:r>
          </a:p>
          <a:p>
            <a:pPr marL="325755" lvl="1" indent="0" algn="just">
              <a:lnSpc>
                <a:spcPts val="5400"/>
              </a:lnSpc>
              <a:buSzPct val="100000"/>
              <a:defRPr sz="360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grpSp>
        <p:nvGrpSpPr>
          <p:cNvPr id="139" name="Group 6"/>
          <p:cNvGrpSpPr/>
          <p:nvPr/>
        </p:nvGrpSpPr>
        <p:grpSpPr>
          <a:xfrm>
            <a:off x="13106400" y="9534524"/>
            <a:ext cx="4267200" cy="547689"/>
            <a:chOff x="0" y="0"/>
            <a:chExt cx="4267200" cy="547687"/>
          </a:xfrm>
        </p:grpSpPr>
        <p:sp>
          <p:nvSpPr>
            <p:cNvPr id="137" name="Freeform 7"/>
            <p:cNvSpPr/>
            <p:nvPr/>
          </p:nvSpPr>
          <p:spPr>
            <a:xfrm>
              <a:off x="0" y="-1"/>
              <a:ext cx="4267200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8" name="TextBox 8"/>
            <p:cNvSpPr txBox="1"/>
            <p:nvPr/>
          </p:nvSpPr>
          <p:spPr>
            <a:xfrm>
              <a:off x="0" y="50422"/>
              <a:ext cx="426720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lnSpc>
                  <a:spcPts val="3200"/>
                </a:lnSpc>
                <a:defRPr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142" name="Group 9"/>
          <p:cNvGrpSpPr/>
          <p:nvPr/>
        </p:nvGrpSpPr>
        <p:grpSpPr>
          <a:xfrm>
            <a:off x="4651029" y="9646192"/>
            <a:ext cx="8722071" cy="436023"/>
            <a:chOff x="0" y="0"/>
            <a:chExt cx="8722069" cy="436022"/>
          </a:xfrm>
        </p:grpSpPr>
        <p:sp>
          <p:nvSpPr>
            <p:cNvPr id="140" name="Freeform 10"/>
            <p:cNvSpPr/>
            <p:nvPr/>
          </p:nvSpPr>
          <p:spPr>
            <a:xfrm>
              <a:off x="0" y="10823"/>
              <a:ext cx="8722070" cy="425200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1" name="TextBox 11"/>
            <p:cNvSpPr txBox="1"/>
            <p:nvPr/>
          </p:nvSpPr>
          <p:spPr>
            <a:xfrm>
              <a:off x="0" y="0"/>
              <a:ext cx="872207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Alliance School of Advanced Computing</a:t>
              </a:r>
            </a:p>
          </p:txBody>
        </p:sp>
      </p:grpSp>
      <p:sp>
        <p:nvSpPr>
          <p:cNvPr id="143" name="Freeform 12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Freeform 14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47" name="Group 15"/>
          <p:cNvGrpSpPr/>
          <p:nvPr/>
        </p:nvGrpSpPr>
        <p:grpSpPr>
          <a:xfrm>
            <a:off x="0" y="9532143"/>
            <a:ext cx="18288001" cy="754858"/>
            <a:chOff x="0" y="0"/>
            <a:chExt cx="18288000" cy="754857"/>
          </a:xfrm>
        </p:grpSpPr>
        <p:sp>
          <p:nvSpPr>
            <p:cNvPr id="145" name="Freeform 16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6" name="TextBox 9"/>
            <p:cNvSpPr/>
            <p:nvPr/>
          </p:nvSpPr>
          <p:spPr>
            <a:xfrm>
              <a:off x="0" y="377427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4</a:t>
              </a:r>
            </a:p>
          </p:txBody>
        </p:sp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roup 2"/>
          <p:cNvSpPr/>
          <p:nvPr/>
        </p:nvSpPr>
        <p:spPr>
          <a:xfrm>
            <a:off x="161925" y="702468"/>
            <a:ext cx="1645920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5000"/>
              </a:lnSpc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IMPACT AND BENEFITS</a:t>
            </a:r>
          </a:p>
        </p:txBody>
      </p:sp>
      <p:sp>
        <p:nvSpPr>
          <p:cNvPr id="152" name="TextBox 5"/>
          <p:cNvSpPr txBox="1"/>
          <p:nvPr/>
        </p:nvSpPr>
        <p:spPr>
          <a:xfrm>
            <a:off x="831669" y="1848572"/>
            <a:ext cx="13895070" cy="7980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Target Audience: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Industrial workers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Safety supervisors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Construction companies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Mining and manufacturing industries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Social Impact: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Improves worker safety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Reduces workplace accidents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Enables real-time hazard detection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Economic Benefits: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Reduces accident-related costs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Minimizes operational downtime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Improves workplace productivity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Environmental Benefits: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Detects gas leaks and hazardous emissions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Supports safer and sustainable industrial environments</a:t>
            </a:r>
          </a:p>
          <a:p>
            <a:pPr marL="325755" lvl="1" indent="0" algn="just">
              <a:lnSpc>
                <a:spcPts val="5400"/>
              </a:lnSpc>
              <a:buSzPct val="100000"/>
              <a:defRPr sz="36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5" name="Group 6"/>
          <p:cNvGrpSpPr/>
          <p:nvPr/>
        </p:nvGrpSpPr>
        <p:grpSpPr>
          <a:xfrm>
            <a:off x="13106400" y="9534524"/>
            <a:ext cx="4267200" cy="547689"/>
            <a:chOff x="0" y="0"/>
            <a:chExt cx="4267200" cy="547687"/>
          </a:xfrm>
        </p:grpSpPr>
        <p:sp>
          <p:nvSpPr>
            <p:cNvPr id="153" name="Freeform 7"/>
            <p:cNvSpPr/>
            <p:nvPr/>
          </p:nvSpPr>
          <p:spPr>
            <a:xfrm>
              <a:off x="0" y="-1"/>
              <a:ext cx="4267200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4" name="TextBox 8"/>
            <p:cNvSpPr txBox="1"/>
            <p:nvPr/>
          </p:nvSpPr>
          <p:spPr>
            <a:xfrm>
              <a:off x="0" y="50422"/>
              <a:ext cx="426720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lnSpc>
                  <a:spcPts val="3200"/>
                </a:lnSpc>
                <a:defRPr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158" name="Group 9"/>
          <p:cNvGrpSpPr/>
          <p:nvPr/>
        </p:nvGrpSpPr>
        <p:grpSpPr>
          <a:xfrm>
            <a:off x="6529388" y="9534524"/>
            <a:ext cx="7400926" cy="652459"/>
            <a:chOff x="0" y="0"/>
            <a:chExt cx="7400925" cy="652457"/>
          </a:xfrm>
        </p:grpSpPr>
        <p:sp>
          <p:nvSpPr>
            <p:cNvPr id="156" name="Freeform 10"/>
            <p:cNvSpPr/>
            <p:nvPr/>
          </p:nvSpPr>
          <p:spPr>
            <a:xfrm>
              <a:off x="0" y="-1"/>
              <a:ext cx="7400925" cy="65245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7" name="TextBox 11"/>
            <p:cNvSpPr txBox="1"/>
            <p:nvPr/>
          </p:nvSpPr>
          <p:spPr>
            <a:xfrm>
              <a:off x="0" y="102809"/>
              <a:ext cx="7400925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Alliance School of Advanced Computing</a:t>
              </a:r>
            </a:p>
          </p:txBody>
        </p:sp>
      </p:grpSp>
      <p:sp>
        <p:nvSpPr>
          <p:cNvPr id="159" name="Freeform 12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" name="Freeform 14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63" name="Group 15"/>
          <p:cNvGrpSpPr/>
          <p:nvPr/>
        </p:nvGrpSpPr>
        <p:grpSpPr>
          <a:xfrm>
            <a:off x="0" y="9532143"/>
            <a:ext cx="18288001" cy="754858"/>
            <a:chOff x="0" y="0"/>
            <a:chExt cx="18288000" cy="754857"/>
          </a:xfrm>
        </p:grpSpPr>
        <p:sp>
          <p:nvSpPr>
            <p:cNvPr id="161" name="Freeform 16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2" name="TextBox 9"/>
            <p:cNvSpPr/>
            <p:nvPr/>
          </p:nvSpPr>
          <p:spPr>
            <a:xfrm>
              <a:off x="0" y="377427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5</a:t>
              </a: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roup 2"/>
          <p:cNvSpPr/>
          <p:nvPr/>
        </p:nvSpPr>
        <p:spPr>
          <a:xfrm>
            <a:off x="161925" y="716756"/>
            <a:ext cx="1645920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5000"/>
              </a:lnSpc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RESEARCH  AND REFERENCES</a:t>
            </a:r>
          </a:p>
        </p:txBody>
      </p:sp>
      <p:sp>
        <p:nvSpPr>
          <p:cNvPr id="168" name="TextBox 5"/>
          <p:cNvSpPr txBox="1"/>
          <p:nvPr/>
        </p:nvSpPr>
        <p:spPr>
          <a:xfrm>
            <a:off x="817154" y="2245621"/>
            <a:ext cx="13895070" cy="4088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Research Inspiration: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IoT-Based Industrial Safety Monitoring Systems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AI-Based Workplace Hazard Prediction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Wearable Health Monitoring Systems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Technology References: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Microsoft Azure IoT Hub Documentation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Azure Machine Learning Services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ESP32 IoT Development Framework</a:t>
            </a:r>
          </a:p>
          <a:p>
            <a:pPr marL="380047" lvl="1" indent="0" algn="just">
              <a:lnSpc>
                <a:spcPts val="5000"/>
              </a:lnSpc>
              <a:buSzPct val="100000"/>
              <a:defRPr sz="42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1" name="Group 6"/>
          <p:cNvGrpSpPr/>
          <p:nvPr/>
        </p:nvGrpSpPr>
        <p:grpSpPr>
          <a:xfrm>
            <a:off x="13106400" y="9534524"/>
            <a:ext cx="4267200" cy="547689"/>
            <a:chOff x="0" y="0"/>
            <a:chExt cx="4267200" cy="547687"/>
          </a:xfrm>
        </p:grpSpPr>
        <p:sp>
          <p:nvSpPr>
            <p:cNvPr id="169" name="Freeform 7"/>
            <p:cNvSpPr/>
            <p:nvPr/>
          </p:nvSpPr>
          <p:spPr>
            <a:xfrm>
              <a:off x="0" y="-1"/>
              <a:ext cx="4267200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0" name="TextBox 8"/>
            <p:cNvSpPr txBox="1"/>
            <p:nvPr/>
          </p:nvSpPr>
          <p:spPr>
            <a:xfrm>
              <a:off x="0" y="64709"/>
              <a:ext cx="4267200" cy="4039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lnSpc>
                  <a:spcPts val="3200"/>
                </a:lnSpc>
                <a:defRPr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174" name="Group 9"/>
          <p:cNvGrpSpPr/>
          <p:nvPr/>
        </p:nvGrpSpPr>
        <p:grpSpPr>
          <a:xfrm>
            <a:off x="6972300" y="9534524"/>
            <a:ext cx="6134100" cy="547689"/>
            <a:chOff x="0" y="0"/>
            <a:chExt cx="6134100" cy="547687"/>
          </a:xfrm>
        </p:grpSpPr>
        <p:sp>
          <p:nvSpPr>
            <p:cNvPr id="172" name="Freeform 10"/>
            <p:cNvSpPr/>
            <p:nvPr/>
          </p:nvSpPr>
          <p:spPr>
            <a:xfrm>
              <a:off x="0" y="-1"/>
              <a:ext cx="6134100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3" name="TextBox 11"/>
            <p:cNvSpPr txBox="1"/>
            <p:nvPr/>
          </p:nvSpPr>
          <p:spPr>
            <a:xfrm>
              <a:off x="0" y="50422"/>
              <a:ext cx="613410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Alliance School of Advanced Computing</a:t>
              </a:r>
            </a:p>
          </p:txBody>
        </p:sp>
      </p:grpSp>
      <p:sp>
        <p:nvSpPr>
          <p:cNvPr id="175" name="Freeform 12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6" name="Freeform 14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79" name="Group 15"/>
          <p:cNvGrpSpPr/>
          <p:nvPr/>
        </p:nvGrpSpPr>
        <p:grpSpPr>
          <a:xfrm>
            <a:off x="0" y="9532143"/>
            <a:ext cx="18288001" cy="754858"/>
            <a:chOff x="0" y="0"/>
            <a:chExt cx="18288000" cy="754857"/>
          </a:xfrm>
        </p:grpSpPr>
        <p:sp>
          <p:nvSpPr>
            <p:cNvPr id="177" name="Freeform 16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8" name="TextBox 9"/>
            <p:cNvSpPr/>
            <p:nvPr/>
          </p:nvSpPr>
          <p:spPr>
            <a:xfrm>
              <a:off x="0" y="377427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6</a:t>
              </a: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659</Words>
  <Application>Microsoft Office PowerPoint</Application>
  <PresentationFormat>Custom</PresentationFormat>
  <Paragraphs>91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SANIYA ILMA</dc:creator>
  <cp:lastModifiedBy>SANIYA ILMA</cp:lastModifiedBy>
  <cp:revision>2</cp:revision>
  <dcterms:modified xsi:type="dcterms:W3CDTF">2026-03-18T10:54:06Z</dcterms:modified>
</cp:coreProperties>
</file>